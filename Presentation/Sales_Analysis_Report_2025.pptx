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أسواق الجزيرة</c:v>
                </c:pt>
                <c:pt idx="1">
                  <c:v>متاجر اللولو</c:v>
                </c:pt>
                <c:pt idx="2">
                  <c:v>أسواق العثيم</c:v>
                </c:pt>
                <c:pt idx="3">
                  <c:v>هايبر بندة</c:v>
                </c:pt>
                <c:pt idx="4">
                  <c:v>كارفور الإقليمي</c:v>
                </c:pt>
                <c:pt idx="5">
                  <c:v>مؤسسة ثمار المدينة</c:v>
                </c:pt>
                <c:pt idx="6">
                  <c:v>شركة وفرة</c:v>
                </c:pt>
                <c:pt idx="7">
                  <c:v>أسواق الخليج</c:v>
                </c:pt>
                <c:pt idx="8">
                  <c:v>التميمي ماركت</c:v>
                </c:pt>
                <c:pt idx="9">
                  <c:v>شركة المروة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2962651</c:v>
                </c:pt>
                <c:pt idx="1">
                  <c:v>3041638</c:v>
                </c:pt>
                <c:pt idx="2">
                  <c:v>2815588</c:v>
                </c:pt>
                <c:pt idx="3">
                  <c:v>1850000</c:v>
                </c:pt>
                <c:pt idx="4">
                  <c:v>1620000</c:v>
                </c:pt>
                <c:pt idx="5">
                  <c:v>1540000</c:v>
                </c:pt>
                <c:pt idx="6">
                  <c:v>1280000</c:v>
                </c:pt>
                <c:pt idx="7">
                  <c:v>980000</c:v>
                </c:pt>
                <c:pt idx="8">
                  <c:v>750000</c:v>
                </c:pt>
                <c:pt idx="9">
                  <c:v>620000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5C-495C-8E87-F560743D16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0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33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0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525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1BC-443B-A221-8D5EB6E9B369}"/>
              </c:ext>
            </c:extLst>
          </c:dPt>
          <c:dPt>
            <c:idx val="1"/>
            <c:bubble3D val="0"/>
            <c:spPr>
              <a:solidFill>
                <a:srgbClr val="E8C5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1BC-443B-A221-8D5EB6E9B369}"/>
              </c:ext>
            </c:extLst>
          </c:dPt>
          <c:dPt>
            <c:idx val="2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1BC-443B-A221-8D5EB6E9B369}"/>
              </c:ext>
            </c:extLst>
          </c:dPt>
          <c:dPt>
            <c:idx val="3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1BC-443B-A221-8D5EB6E9B369}"/>
              </c:ext>
            </c:extLst>
          </c:dPt>
          <c:dPt>
            <c:idx val="4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1BC-443B-A221-8D5EB6E9B36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1BC-443B-A221-8D5EB6E9B36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1BC-443B-A221-8D5EB6E9B36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1BC-443B-A221-8D5EB6E9B36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1BC-443B-A221-8D5EB6E9B369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1BC-443B-A221-8D5EB6E9B36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تمر عجوة المدينة</c:v>
                </c:pt>
                <c:pt idx="1">
                  <c:v>تمر مجدول فاخر</c:v>
                </c:pt>
                <c:pt idx="2">
                  <c:v>تمر خلاص</c:v>
                </c:pt>
                <c:pt idx="3">
                  <c:v>تمر سكري رطب</c:v>
                </c:pt>
                <c:pt idx="4">
                  <c:v>تمر صفاوي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8126340</c:v>
                </c:pt>
                <c:pt idx="1">
                  <c:v>7687144</c:v>
                </c:pt>
                <c:pt idx="2">
                  <c:v>5200000</c:v>
                </c:pt>
                <c:pt idx="3">
                  <c:v>4900000</c:v>
                </c:pt>
                <c:pt idx="4">
                  <c:v>-941623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1BC-443B-A221-8D5EB6E9B3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B0B0B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25254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Revenue | الإيراد</c:v>
                </c:pt>
              </c:strCache>
            </c:strRef>
          </c:tx>
          <c:spPr>
            <a:ln w="31750" cap="flat">
              <a:solidFill>
                <a:srgbClr val="C9A84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A84C"/>
              </a:solidFill>
              <a:ln w="9525" cap="flat">
                <a:solidFill>
                  <a:srgbClr val="C9A84C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2100000</c:v>
                </c:pt>
                <c:pt idx="1">
                  <c:v>1600000</c:v>
                </c:pt>
                <c:pt idx="2">
                  <c:v>7500000</c:v>
                </c:pt>
                <c:pt idx="3">
                  <c:v>7400000</c:v>
                </c:pt>
                <c:pt idx="4">
                  <c:v>8300000</c:v>
                </c:pt>
                <c:pt idx="5">
                  <c:v>4800000</c:v>
                </c:pt>
                <c:pt idx="6">
                  <c:v>3900000</c:v>
                </c:pt>
                <c:pt idx="7">
                  <c:v>4200000</c:v>
                </c:pt>
                <c:pt idx="8">
                  <c:v>3800000</c:v>
                </c:pt>
                <c:pt idx="9">
                  <c:v>4100000</c:v>
                </c:pt>
                <c:pt idx="10">
                  <c:v>3500000</c:v>
                </c:pt>
                <c:pt idx="11">
                  <c:v>3547514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276-43D8-8510-F840F09E39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| الربح</c:v>
                </c:pt>
              </c:strCache>
            </c:strRef>
          </c:tx>
          <c:spPr>
            <a:ln w="31750" cap="flat">
              <a:solidFill>
                <a:srgbClr val="2ECC7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CC71"/>
              </a:solidFill>
              <a:ln w="9525" cap="flat">
                <a:solidFill>
                  <a:srgbClr val="2ECC7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850000</c:v>
                </c:pt>
                <c:pt idx="1">
                  <c:v>640000</c:v>
                </c:pt>
                <c:pt idx="2">
                  <c:v>3010000</c:v>
                </c:pt>
                <c:pt idx="3">
                  <c:v>2980000</c:v>
                </c:pt>
                <c:pt idx="4">
                  <c:v>3340000</c:v>
                </c:pt>
                <c:pt idx="5">
                  <c:v>1930000</c:v>
                </c:pt>
                <c:pt idx="6">
                  <c:v>1570000</c:v>
                </c:pt>
                <c:pt idx="7">
                  <c:v>1690000</c:v>
                </c:pt>
                <c:pt idx="8">
                  <c:v>1530000</c:v>
                </c:pt>
                <c:pt idx="9">
                  <c:v>1650000</c:v>
                </c:pt>
                <c:pt idx="10">
                  <c:v>1410000</c:v>
                </c:pt>
                <c:pt idx="11">
                  <c:v>1430896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276-43D8-8510-F840F09E39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0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0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B0B0B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25254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Shipping Cost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6ED-4297-98A5-02524AD22106}"/>
              </c:ext>
            </c:extLst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6ED-4297-98A5-02524AD22106}"/>
              </c:ext>
            </c:extLst>
          </c:dPt>
          <c:dPt>
            <c:idx val="2"/>
            <c:invertIfNegative val="0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6ED-4297-98A5-02524AD22106}"/>
              </c:ext>
            </c:extLst>
          </c:dPt>
          <c:dPt>
            <c:idx val="3"/>
            <c:invertIfNegative val="0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6ED-4297-98A5-02524AD22106}"/>
              </c:ext>
            </c:extLst>
          </c:dPt>
          <c:dPt>
            <c:idx val="4"/>
            <c:invertIfNegative val="0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6ED-4297-98A5-02524AD22106}"/>
              </c:ext>
            </c:extLst>
          </c:dPt>
          <c:dPt>
            <c:idx val="5"/>
            <c:invertIfNegative val="0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6ED-4297-98A5-02524AD2210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الإمارات
UAE</c:v>
                </c:pt>
                <c:pt idx="1">
                  <c:v>الأردن
Jordan</c:v>
                </c:pt>
                <c:pt idx="2">
                  <c:v>الكويت
Kuwait</c:v>
                </c:pt>
                <c:pt idx="3">
                  <c:v>عمان
Oman</c:v>
                </c:pt>
                <c:pt idx="4">
                  <c:v>السعودية
KSA</c:v>
                </c:pt>
                <c:pt idx="5">
                  <c:v>مصر
Egypt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3108</c:v>
                </c:pt>
                <c:pt idx="1">
                  <c:v>465</c:v>
                </c:pt>
                <c:pt idx="2">
                  <c:v>890</c:v>
                </c:pt>
                <c:pt idx="3">
                  <c:v>750</c:v>
                </c:pt>
                <c:pt idx="4">
                  <c:v>1041</c:v>
                </c:pt>
                <c:pt idx="5">
                  <c:v>680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6ED-4297-98A5-02524AD221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0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0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5254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%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2E9-4EC1-9FEA-5A2415B0EF00}"/>
              </c:ext>
            </c:extLst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2E9-4EC1-9FEA-5A2415B0EF00}"/>
              </c:ext>
            </c:extLst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2E9-4EC1-9FEA-5A2415B0EF00}"/>
              </c:ext>
            </c:extLst>
          </c:dPt>
          <c:dPt>
            <c:idx val="3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2E9-4EC1-9FEA-5A2415B0EF0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 Discount
بدون خصم</c:v>
                </c:pt>
                <c:pt idx="1">
                  <c:v>1-10%
خصم صغير</c:v>
                </c:pt>
                <c:pt idx="2">
                  <c:v>11-20%
خصم متوسط</c:v>
                </c:pt>
                <c:pt idx="3">
                  <c:v>21-35%
خصم كبير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</c:v>
                </c:pt>
                <c:pt idx="1">
                  <c:v>43.4</c:v>
                </c:pt>
                <c:pt idx="2">
                  <c:v>40.799999999999997</c:v>
                </c:pt>
                <c:pt idx="3">
                  <c:v>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E9-4EC1-9FEA-5A2415B0EF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0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0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5254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Achievement %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1C2-4C11-BE65-16AFE2FC7A86}"/>
              </c:ext>
            </c:extLst>
          </c:dPt>
          <c:dPt>
            <c:idx val="1"/>
            <c:invertIfNegative val="0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1C2-4C11-BE65-16AFE2FC7A86}"/>
              </c:ext>
            </c:extLst>
          </c:dPt>
          <c:dPt>
            <c:idx val="2"/>
            <c:invertIfNegative val="0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1C2-4C11-BE65-16AFE2FC7A86}"/>
              </c:ext>
            </c:extLst>
          </c:dPt>
          <c:dPt>
            <c:idx val="3"/>
            <c:invertIfNegative val="0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1C2-4C11-BE65-16AFE2FC7A86}"/>
              </c:ext>
            </c:extLst>
          </c:dPt>
          <c:dPt>
            <c:idx val="4"/>
            <c:invertIfNegative val="0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1C2-4C11-BE65-16AFE2FC7A86}"/>
              </c:ext>
            </c:extLst>
          </c:dPt>
          <c:dPt>
            <c:idx val="5"/>
            <c:invertIfNegative val="0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1C2-4C11-BE65-16AFE2FC7A86}"/>
              </c:ext>
            </c:extLst>
          </c:dPt>
          <c:dPt>
            <c:idx val="6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1C2-4C11-BE65-16AFE2FC7A86}"/>
              </c:ext>
            </c:extLst>
          </c:dPt>
          <c:dPt>
            <c:idx val="7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1C2-4C11-BE65-16AFE2FC7A8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مي مصطفى</c:v>
                </c:pt>
                <c:pt idx="1">
                  <c:v>خالد وليد</c:v>
                </c:pt>
                <c:pt idx="2">
                  <c:v>عمر فاروق</c:v>
                </c:pt>
                <c:pt idx="3">
                  <c:v>ريم سلطان</c:v>
                </c:pt>
                <c:pt idx="4">
                  <c:v>سارة علي</c:v>
                </c:pt>
                <c:pt idx="5">
                  <c:v>أحمد حسن</c:v>
                </c:pt>
                <c:pt idx="6">
                  <c:v>فاطمة أحمد</c:v>
                </c:pt>
                <c:pt idx="7">
                  <c:v>محمد عبد الله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713</c:v>
                </c:pt>
                <c:pt idx="1">
                  <c:v>603</c:v>
                </c:pt>
                <c:pt idx="2">
                  <c:v>594</c:v>
                </c:pt>
                <c:pt idx="3">
                  <c:v>520</c:v>
                </c:pt>
                <c:pt idx="4">
                  <c:v>490</c:v>
                </c:pt>
                <c:pt idx="5">
                  <c:v>470</c:v>
                </c:pt>
                <c:pt idx="6">
                  <c:v>345</c:v>
                </c:pt>
                <c:pt idx="7">
                  <c:v>311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21C2-4C11-BE65-16AFE2FC7A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0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333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0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525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139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4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تحليل المبيعات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 Report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0" y="2743200"/>
            <a:ext cx="365760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شركة</a:t>
            </a:r>
            <a:r>
              <a:rPr lang="en-US" sz="16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r-EG" sz="16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توريد </a:t>
            </a:r>
            <a:r>
              <a:rPr lang="en-US" sz="1600" dirty="0" err="1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تمور</a:t>
            </a:r>
            <a:r>
              <a:rPr lang="en-US" sz="16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Dates Trading Company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3474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 شامل للمبيعات والربحية والمخزون  |  Comprehensive Sales, Profitability &amp; Inventory Analysis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754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 Alaa  |  </a:t>
            </a:r>
            <a:r>
              <a:rPr lang="en-US" sz="12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إعداد</a:t>
            </a: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r-EG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أحمد علاء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المؤشرات الرئيسية  |  Key Performance Indicators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1920240"/>
          </a:xfrm>
          <a:prstGeom prst="rect">
            <a:avLst/>
          </a:prstGeom>
          <a:solidFill>
            <a:srgbClr val="25254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011680" cy="7315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50,247,514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إجمالي الإيراد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914400"/>
            <a:ext cx="2011680" cy="1920240"/>
          </a:xfrm>
          <a:prstGeom prst="rect">
            <a:avLst/>
          </a:prstGeom>
          <a:solidFill>
            <a:srgbClr val="25254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50592" y="914400"/>
            <a:ext cx="2011680" cy="73152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50592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20,188,896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50592" y="1783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50592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إجمالي الربح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50592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914400"/>
            <a:ext cx="2011680" cy="1920240"/>
          </a:xfrm>
          <a:prstGeom prst="rect">
            <a:avLst/>
          </a:prstGeom>
          <a:solidFill>
            <a:srgbClr val="25254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26864" y="914400"/>
            <a:ext cx="2011680" cy="73152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26864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891,521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26864" y="1783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26864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إجمالي الكميات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26864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03136" y="914400"/>
            <a:ext cx="2011680" cy="1920240"/>
          </a:xfrm>
          <a:prstGeom prst="rect">
            <a:avLst/>
          </a:prstGeom>
          <a:solidFill>
            <a:srgbClr val="25254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03136" y="914400"/>
            <a:ext cx="2011680" cy="731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03136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40.2%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03136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هامش الربح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03136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2011680" cy="822960"/>
          </a:xfrm>
          <a:prstGeom prst="rect">
            <a:avLst/>
          </a:prstGeom>
          <a:solidFill>
            <a:srgbClr val="1E1E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3063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7432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 | إجمالي المعاملات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50592" y="3017520"/>
            <a:ext cx="2011680" cy="822960"/>
          </a:xfrm>
          <a:prstGeom prst="rect">
            <a:avLst/>
          </a:prstGeom>
          <a:solidFill>
            <a:srgbClr val="1E1E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450592" y="3063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450592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 | العملاء النشطين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26864" y="3017520"/>
            <a:ext cx="2011680" cy="822960"/>
          </a:xfrm>
          <a:prstGeom prst="rect">
            <a:avLst/>
          </a:prstGeom>
          <a:solidFill>
            <a:srgbClr val="1E1E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26864" y="3063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626864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| المنتجات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03136" y="3017520"/>
            <a:ext cx="2011680" cy="822960"/>
          </a:xfrm>
          <a:prstGeom prst="rect">
            <a:avLst/>
          </a:prstGeom>
          <a:solidFill>
            <a:srgbClr val="1E1E35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03136" y="3063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دول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803136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| الأسواق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41148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Data source: SQL Server | مصدر البيانات: SQL Server     * Period: Jan–Dec 2025 | الفترة: يناير–ديسمبر 2025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ربحية العملاء  |  Customer Profitability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2296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822960"/>
            <a:ext cx="3108960" cy="3931920"/>
          </a:xfrm>
          <a:prstGeom prst="rect">
            <a:avLst/>
          </a:prstGeom>
          <a:solidFill>
            <a:srgbClr val="25254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60720" y="822960"/>
            <a:ext cx="310896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806440" y="8961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Key Insights | النتائج الرئيسية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852160" y="1371600"/>
            <a:ext cx="54864" cy="32004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89320" y="132588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متاجر اللولو الأعلى ربحية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89320" y="155448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Hypermarket is most profitable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852160" y="1920240"/>
            <a:ext cx="54864" cy="320040"/>
          </a:xfrm>
          <a:prstGeom prst="rect">
            <a:avLst/>
          </a:prstGeom>
          <a:solidFill>
            <a:srgbClr val="E8C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89320" y="187452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أسواق الجزيرة #2 بفارق بسيط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89320" y="210312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Jazeera Markets is close #2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52160" y="2468880"/>
            <a:ext cx="54864" cy="320040"/>
          </a:xfrm>
          <a:prstGeom prst="rect">
            <a:avLst/>
          </a:prstGeom>
          <a:solidFill>
            <a:srgbClr val="E8C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89320" y="242316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أسواق العثيم #3 بهامش 41.9%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89320" y="265176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Othaim Markets #3 — 41.9% margin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52160" y="3017520"/>
            <a:ext cx="54864" cy="3200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89320" y="297180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زادنا وأسواق الخليج أقل ربحية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89320" y="320040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Zadna &amp; Gulf Markets lowest margin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52160" y="3566160"/>
            <a:ext cx="54864" cy="32004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989320" y="352044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هامش الربح الأعلى: الجزيرة 42.3%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89320" y="374904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margin: Al Jazeera 42.3%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806440" y="4160520"/>
            <a:ext cx="3017520" cy="457200"/>
          </a:xfrm>
          <a:prstGeom prst="rect">
            <a:avLst/>
          </a:prstGeom>
          <a:solidFill>
            <a:srgbClr val="1A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852160" y="417880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Recommendation: Focus marketing on Gulf &amp; Zadna to improve margins</a:t>
            </a:r>
            <a:endParaRPr lang="en-US" sz="900" dirty="0"/>
          </a:p>
          <a:p>
            <a:pPr marL="0" indent="0" algn="ctr">
              <a:buNone/>
            </a:pPr>
            <a:r>
              <a:rPr lang="ar-EG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التوصية: تعزيز العلاقة مع عملاء الخليج و زادنا لتحسين هامش الربح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تحليل المنتجات  |  Product Analysis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0" y="804672"/>
            <a:ext cx="4297680" cy="658368"/>
          </a:xfrm>
          <a:prstGeom prst="rect">
            <a:avLst/>
          </a:prstGeom>
          <a:solidFill>
            <a:srgbClr val="25254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0" y="804672"/>
            <a:ext cx="73152" cy="658368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709160" y="8503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تمر عجوة المدينة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09160" y="11247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Ajwa Al-Madinah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766560" y="8503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+8.1M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766560" y="11247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43.3%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909560" y="96926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Top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0" y="1554480"/>
            <a:ext cx="4297680" cy="658368"/>
          </a:xfrm>
          <a:prstGeom prst="rect">
            <a:avLst/>
          </a:prstGeom>
          <a:solidFill>
            <a:srgbClr val="25254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0" y="1554480"/>
            <a:ext cx="73152" cy="658368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09160" y="1600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تمر مجدول فاخر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09160" y="18745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Medjool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766560" y="16002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+7.7M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66560" y="18745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48%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909560" y="171907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Best Margin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0" y="2304288"/>
            <a:ext cx="4297680" cy="658368"/>
          </a:xfrm>
          <a:prstGeom prst="rect">
            <a:avLst/>
          </a:prstGeom>
          <a:solidFill>
            <a:srgbClr val="25254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2000" y="2304288"/>
            <a:ext cx="73152" cy="658368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09160" y="23500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تمر خلاص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09160" y="26243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Khlass Dates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766560" y="23500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+5.2M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766560" y="26243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38%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909560" y="246888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Good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0" y="3054096"/>
            <a:ext cx="4297680" cy="658368"/>
          </a:xfrm>
          <a:prstGeom prst="rect">
            <a:avLst/>
          </a:prstGeom>
          <a:solidFill>
            <a:srgbClr val="25254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572000" y="3054096"/>
            <a:ext cx="73152" cy="658368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709160" y="309981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تمر سكري رطب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709160" y="33741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Sukari Rutab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766560" y="30998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+4.9M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766560" y="33741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35%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909560" y="321868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Good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572000" y="3803904"/>
            <a:ext cx="4297680" cy="658368"/>
          </a:xfrm>
          <a:prstGeom prst="rect">
            <a:avLst/>
          </a:prstGeom>
          <a:solidFill>
            <a:srgbClr val="25254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572000" y="3803904"/>
            <a:ext cx="73152" cy="65836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709160" y="384962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تمر صفاوي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709160" y="41239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Safawi Dates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766560" y="38496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Profit: -941K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412394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-37%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909560" y="396849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LOSS!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2D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274320" y="4114800"/>
            <a:ext cx="73152" cy="6858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57200" y="413308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تنبيه عاجل | URGENT ALERT: تمر صفاوي يُباع بأقل من تكلفته (سعر 18 &lt; تكلفة 20). خسارة سنوية ~941,000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Safawi Dates is sold below cost (price 18 &lt; cost 20). Annual loss ~941,000 SAR — Immediate pricing review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اتجاهات المبيعات الشهرية  |  Monthly Sales Trends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9436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777240"/>
            <a:ext cx="2468880" cy="3291840"/>
          </a:xfrm>
          <a:prstGeom prst="rect">
            <a:avLst/>
          </a:prstGeom>
          <a:solidFill>
            <a:srgbClr val="25254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0" y="777240"/>
            <a:ext cx="2468880" cy="5486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46520" y="8503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Seasons | المواسم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92240" y="1325880"/>
            <a:ext cx="2286000" cy="685800"/>
          </a:xfrm>
          <a:prstGeom prst="rect">
            <a:avLst/>
          </a:prstGeom>
          <a:solidFill>
            <a:srgbClr val="1E1E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37960" y="13441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Peak Season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37960" y="158191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Mar–May | موسم الذروة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37960" y="179222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رمضان والأعياد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92240" y="2103120"/>
            <a:ext cx="2286000" cy="685800"/>
          </a:xfrm>
          <a:prstGeom prst="rect">
            <a:avLst/>
          </a:prstGeom>
          <a:solidFill>
            <a:srgbClr val="1E1E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37960" y="212140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Growing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37960" y="23591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Oct–Nov | نمو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37960" y="256946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موسم الشتاء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92240" y="2880360"/>
            <a:ext cx="2286000" cy="685800"/>
          </a:xfrm>
          <a:prstGeom prst="rect">
            <a:avLst/>
          </a:prstGeom>
          <a:solidFill>
            <a:srgbClr val="1E1E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37960" y="28986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Low Season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37960" y="31363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Jan–Feb | موسم هادئ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537960" y="334670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بداية السنة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92240" y="3703320"/>
            <a:ext cx="2286000" cy="320040"/>
          </a:xfrm>
          <a:prstGeom prst="rect">
            <a:avLst/>
          </a:prstGeom>
          <a:solidFill>
            <a:srgbClr val="1A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10528" y="3721608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Increase stock before March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زيادة المخزون قبل مارس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74320" y="42062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2025 is the strongest month (8.3M) | مايو 2025 هو أقوى شهر (8.3 مليون)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&amp; Q6: الشحن والخصومات  |  Shipping &amp; Discounts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تكلفة الشحن بالدولة  |  Shipping Cost by Country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4300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749040"/>
            <a:ext cx="4114800" cy="548640"/>
          </a:xfrm>
          <a:prstGeom prst="rect">
            <a:avLst/>
          </a:prstGeom>
          <a:solidFill>
            <a:srgbClr val="2D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0040" y="3767328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UAE shipping cost is 3× higher than average (8.1% of revenue)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تكلفة شحن الإمارات أعلى 3 أضعاف من المتوسط (8.1% من الإيراد)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5488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تأثير الخصومات على الربحية  |  Discount Impact on Profit</a:t>
            </a:r>
            <a:endParaRPr lang="en-US" sz="13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754880" y="114300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754880" y="3749040"/>
            <a:ext cx="4114800" cy="548640"/>
          </a:xfrm>
          <a:prstGeom prst="rect">
            <a:avLst/>
          </a:prstGeom>
          <a:solidFill>
            <a:srgbClr val="1A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800600" y="3767328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Discounts above 10% cut profit margin nearly in half (47% → 23.5%)</a:t>
            </a:r>
            <a:endParaRPr lang="en-US" sz="1000" dirty="0"/>
          </a:p>
          <a:p>
            <a:pPr algn="ctr"/>
            <a:r>
              <a:rPr lang="en-US" sz="1000" dirty="0" err="1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الخصومات</a:t>
            </a: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فو</a:t>
            </a:r>
            <a:r>
              <a:rPr lang="ar-EG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 10%  ت</a:t>
            </a:r>
            <a:r>
              <a:rPr lang="en-US" sz="1000" dirty="0" err="1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قلص</a:t>
            </a: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هامش الربح للنصف تقريباً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&amp; Q7: المخزن والموظفين  |  Inventory &amp; Sales Team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المخزن والهدر  |  Inventory &amp; Wastage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672841"/>
              </p:ext>
            </p:extLst>
          </p:nvPr>
        </p:nvGraphicFramePr>
        <p:xfrm>
          <a:off x="274320" y="1188720"/>
          <a:ext cx="4206240" cy="25603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المنتج / 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ar-EG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ه</a:t>
                      </a:r>
                      <a:r>
                        <a:rPr lang="en-US" sz="1000" b="1" dirty="0" err="1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در</a:t>
                      </a: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KG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ar-EG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ا</a:t>
                      </a:r>
                      <a:r>
                        <a:rPr lang="en-US" sz="1000" b="1" dirty="0" err="1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لتكلفة</a:t>
                      </a: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EGP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السبب / Reason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تمر صفاوي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إصابة حشرية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تمر سكري رطب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انتهاء صلاحية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تمر مجدول فاخر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سوء تخزين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تمر عجوة المدينة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⚠️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عينات فحص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تمر خلاص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تلف تلفيف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الإجمالي /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45,225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794760"/>
            <a:ext cx="4206240" cy="457200"/>
          </a:xfrm>
          <a:prstGeom prst="rect">
            <a:avLst/>
          </a:prstGeom>
          <a:solidFill>
            <a:srgbClr val="2D0A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0040" y="3813048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Safawi Dates: Insect infestation + Sold below cost = Urgent action required!</a:t>
            </a:r>
            <a:endParaRPr lang="en-US" sz="900" dirty="0"/>
          </a:p>
          <a:p>
            <a:pPr marL="0" indent="0" algn="ctr">
              <a:buNone/>
            </a:pPr>
            <a:r>
              <a:rPr lang="ar-SA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مطلوب تدخل فوري تمر </a:t>
            </a:r>
            <a:r>
              <a:rPr lang="ar-SA" sz="900" b="1" dirty="0" err="1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الصفاوي</a:t>
            </a:r>
            <a:r>
              <a:rPr lang="ar-SA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إصابات حشرية + بيع بخسارة</a:t>
            </a:r>
            <a:endParaRPr lang="en-US" sz="900" dirty="0"/>
          </a:p>
        </p:txBody>
      </p:sp>
      <p:sp>
        <p:nvSpPr>
          <p:cNvPr id="5" name="Text 5"/>
          <p:cNvSpPr/>
          <p:nvPr/>
        </p:nvSpPr>
        <p:spPr>
          <a:xfrm>
            <a:off x="4754880" y="777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أداء الموظفين  |  Sales Team Performance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754880" y="118872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6"/>
          <p:cNvSpPr/>
          <p:nvPr/>
        </p:nvSpPr>
        <p:spPr>
          <a:xfrm>
            <a:off x="4754880" y="3794760"/>
            <a:ext cx="4114800" cy="457200"/>
          </a:xfrm>
          <a:prstGeom prst="rect">
            <a:avLst/>
          </a:prstGeom>
          <a:solidFill>
            <a:srgbClr val="1A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800600" y="381304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All staff exceed targets. محمد عبد الله &amp; فاطمة أحمد have higher targets (Gulf region)</a:t>
            </a:r>
            <a:endParaRPr lang="en-US" sz="900" dirty="0"/>
          </a:p>
          <a:p>
            <a:pPr marL="0" indent="0" algn="ctr">
              <a:buNone/>
            </a:pPr>
            <a:r>
              <a:rPr lang="ar-SA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الموظفين يحققون أهدافهم. محمد وفاطمة لديهم أهداف أعلى (منطقة الخليج)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التوصيات والخلاصة  |  Recommendations &amp;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188720"/>
          </a:xfrm>
          <a:prstGeom prst="rect">
            <a:avLst/>
          </a:prstGeom>
          <a:solidFill>
            <a:srgbClr val="25254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73152" cy="11887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749040" y="868680"/>
            <a:ext cx="685800" cy="25603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49040" y="8686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88696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وقف بيع تمر الصفاوي أو رفع سعره فوق 25 فوراً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53619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selling Safawi Dates or raise price above 25 SAR immediately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4206240" cy="1188720"/>
          </a:xfrm>
          <a:prstGeom prst="rect">
            <a:avLst/>
          </a:prstGeom>
          <a:solidFill>
            <a:srgbClr val="25254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73152" cy="11887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49040" y="2194560"/>
            <a:ext cx="685800" cy="25603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49040" y="219456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221284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📦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" y="25146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إعادة تخزين تمر عجوة المدينة — المخزون = صفر!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286207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 Ajwa Al-Madinah immediately — Stock = ZERO!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474720"/>
            <a:ext cx="4206240" cy="1188720"/>
          </a:xfrm>
          <a:prstGeom prst="rect">
            <a:avLst/>
          </a:prstGeom>
          <a:solidFill>
            <a:srgbClr val="25254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474720"/>
            <a:ext cx="73152" cy="1188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49040" y="3520440"/>
            <a:ext cx="685800" cy="25603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49040" y="352044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" y="3538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" y="38404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مراجعة عقود شحن الإمارات — تكلفة أعلى 3 أضعاف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18795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UAE shipping contracts — Cost 3× higher than average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822960"/>
            <a:ext cx="4206240" cy="1188720"/>
          </a:xfrm>
          <a:prstGeom prst="rect">
            <a:avLst/>
          </a:prstGeom>
          <a:solidFill>
            <a:srgbClr val="25254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822960"/>
            <a:ext cx="73152" cy="1188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29600" y="868680"/>
            <a:ext cx="685800" cy="25603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29600" y="8686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92040" y="88696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🎁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92040" y="118872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تحديد سقف للخصومات عند 20% — ما فوقه يضر الربحية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153619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discounts at 20% — Higher discounts severely hurt margins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148840"/>
            <a:ext cx="4206240" cy="1188720"/>
          </a:xfrm>
          <a:prstGeom prst="rect">
            <a:avLst/>
          </a:prstGeom>
          <a:solidFill>
            <a:srgbClr val="25254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2148840"/>
            <a:ext cx="73152" cy="118872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229600" y="2194560"/>
            <a:ext cx="685800" cy="256032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0" y="219456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92040" y="221284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📈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892040" y="25146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زيادة المخزون والتسويق قبل مارس </a:t>
            </a:r>
            <a:r>
              <a:rPr lang="ar-EG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موسم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الذروة</a:t>
            </a:r>
            <a:r>
              <a:rPr lang="ar-EG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286207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stock and marketing before March (peak season)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474720"/>
            <a:ext cx="4206240" cy="1188720"/>
          </a:xfrm>
          <a:prstGeom prst="rect">
            <a:avLst/>
          </a:prstGeom>
          <a:solidFill>
            <a:srgbClr val="252540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54880" y="3474720"/>
            <a:ext cx="73152" cy="118872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229600" y="3520440"/>
            <a:ext cx="685800" cy="256032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229600" y="352044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92040" y="3538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🏆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892040" y="38404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تعزيز العلاقة مع اللولو والجزيرة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والعثيم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r-EG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أعلى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ربحية</a:t>
            </a:r>
            <a:r>
              <a:rPr lang="ar-EG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92040" y="418795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relationships with LuLu, Al Jazeera &amp; Othaim (top clients)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شكراً لاهتمامكم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 Report 2025  |  تقرير تحليل المبيعات 2025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 Alaa  |  </a:t>
            </a:r>
            <a:r>
              <a:rPr lang="en-US" sz="1300" dirty="0" err="1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إعداد</a:t>
            </a: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r-EG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أحمد علاء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8404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754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Company — Sales &amp; Data Analytics Department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827</Words>
  <Application>Microsoft Office PowerPoint</Application>
  <PresentationFormat>On-screen Show (16:9)</PresentationFormat>
  <Paragraphs>172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Analysis Report 2025 | تقرير تحليل المبيعات 2025</dc:title>
  <dc:subject>PptxGenJS Presentation</dc:subject>
  <dc:creator>PptxGenJS</dc:creator>
  <cp:lastModifiedBy>Ahmed Alaa</cp:lastModifiedBy>
  <cp:revision>14</cp:revision>
  <dcterms:created xsi:type="dcterms:W3CDTF">2026-05-24T17:38:25Z</dcterms:created>
  <dcterms:modified xsi:type="dcterms:W3CDTF">2026-05-24T18:56:16Z</dcterms:modified>
</cp:coreProperties>
</file>